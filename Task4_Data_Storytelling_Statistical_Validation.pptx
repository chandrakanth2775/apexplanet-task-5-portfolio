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3324-5644-6438-5EA1-0B2924121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DCC6D-7583-5E63-5753-B4AF0666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0E123-380A-9D0A-102C-CFE983A6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C1A09-FD5E-2C97-36C7-B57687D9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B5F5-9593-61B8-C86E-AFCF9275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45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4B77-1AA0-A901-3049-A9A04484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59D89-0E51-6C84-9A34-3D3F52F7D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ECA8A-06A9-F3BD-6F22-29801E0B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8DF25-336B-EB79-E276-E7D320A5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59329-ECAC-DC8C-3343-A0944908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8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8810-F114-4F2C-84D2-A118C85D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F7C05-2BA2-8EFC-2A5E-45BD9913B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56B78-14A5-7718-2682-7CDB9538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93DF-7155-27E6-91BA-632E43EB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8B6A7-35C2-B539-6D93-5FBFDDEC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7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12E8-229C-8E33-DA05-31B8DF34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D728A-51CE-1614-6F21-46B234806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B5260-F8A7-22E2-2DA4-849149C60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22BB1-98EB-F177-2A4C-70DBD5F4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83269-A714-2C61-2093-B506ABE8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CFD14-FF46-72EB-E32E-1FC23877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7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985A-9C96-B50E-4F23-688C8EF8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F1829-C071-483A-E4AC-AA84F3A67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CD7A2-B39E-5196-0165-3DE1A33C3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F45E7-04A2-AA34-8DD2-7FD5B946A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829E5-4CDC-B7AA-521B-94262BC46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26DEC-14CD-F7C6-B599-3B8A4FDD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EE751-7B0D-B79F-69BA-2052E07F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B22EA9-64DB-9E6E-9204-2B1DFD96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3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2AF3-D75F-FCAD-BBD1-8373983E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B8547-F30B-D0B8-A062-D9D24151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9B44B-A4B4-FD82-39E0-5AF771B6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F664B-5E71-7E1D-CB2C-FC55A877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2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3FC9F-34A9-EB8D-490A-3D1A1768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C49E1-6726-FA01-8108-E5EEBC26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0F2AA-D727-0C6B-794A-139EAC55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76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9B11-1E43-8F37-3F94-5BD52205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88E99-7626-DBC0-CF5F-9C6C3659A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C8942-E6FB-2743-175D-98612233C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2B1EC-7EED-7B95-22AA-66E682C1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814AB-CE11-7A50-25D3-9AB03FDF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B66B1-EB8C-9FC8-8B6B-6F2C2F02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993E-9EBD-A032-944A-AAE751AD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4FA282-622B-CBD9-8578-050A3D6EA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E7D26-C180-11D6-7376-F810A38EC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C6164-98B6-3B49-BC17-1B8F30D9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43D81-A982-863B-E7B6-9A8A5CB7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2B895-AB62-9AD9-FC8D-A925C698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8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E636-1A7E-BAC2-5769-A1220DD0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49990-932F-BAA9-16D9-5A2BD5896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EF9BC-488E-0FA3-8C13-53EA63AD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BF288-A844-84AE-D542-2D0C0942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74D14-8865-4540-4F63-071F5125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61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F4FB9-55FC-6383-11B9-C73E13138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12ACF-3250-806E-5564-36B13056E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42D00-24B4-8764-4026-EDE2FB98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ADA79-0FB0-FBEE-494B-02C1DC66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5A94-F286-5A42-CEB4-327AB567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24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DA8EA-6103-04B9-930B-B5C5D9AF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6C439-F379-E44A-0DBF-D0B081549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DEF5B-3E6C-4160-B642-C42907C2F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39321-3A1C-4D5F-AF72-3DA7EFFE5C1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84091-9C54-4F0E-E965-53DF5C9E6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8297B-7992-312D-32BB-A1F550AE2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9A9D1-8794-49F6-99D7-F53EDDD86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8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9239-122B-6B41-CF65-647B3D482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9E28B-9463-79EE-13F4-974D95847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Task 4 – </a:t>
            </a:r>
            <a:r>
              <a:rPr lang="en-IN" b="1" dirty="0" err="1"/>
              <a:t>ApexPlanet</a:t>
            </a:r>
            <a:r>
              <a:rPr lang="en-IN" b="1" dirty="0"/>
              <a:t> Data Analytics Internship</a:t>
            </a:r>
            <a:br>
              <a:rPr lang="en-IN" dirty="0"/>
            </a:br>
            <a:r>
              <a:rPr lang="en-IN" b="1" dirty="0"/>
              <a:t>Presented by: CHANDRA KANTH. 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84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FEA38-9282-FCE5-4CBF-C9B184C1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FB412-19EF-79E8-8BB2-E6FF1CCE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the sales dataset to identify business trends. </a:t>
            </a:r>
          </a:p>
          <a:p>
            <a:pPr lvl="0"/>
            <a:r>
              <a:rPr lang="en-IN" dirty="0"/>
              <a:t>Visualize sales performance using Power BI. </a:t>
            </a:r>
          </a:p>
          <a:p>
            <a:pPr lvl="0"/>
            <a:r>
              <a:rPr lang="en-IN" dirty="0"/>
              <a:t>Extract meaningful insights from the data. </a:t>
            </a:r>
          </a:p>
          <a:p>
            <a:pPr lvl="0"/>
            <a:r>
              <a:rPr lang="en-IN" dirty="0"/>
              <a:t>Validate findings using a simple hypothesis. </a:t>
            </a:r>
          </a:p>
          <a:p>
            <a:pPr lvl="0"/>
            <a:r>
              <a:rPr lang="en-IN" dirty="0"/>
              <a:t>Provide recommendations to improve business performance.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61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F9847-1328-CA82-CAB5-55E92EF4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3700"/>
              <a:t>Power BI Dashboard &amp; Key Performance Indicators (KPIs)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85FFC-39C2-0E22-1FC6-6AEA8DF05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" r="2" b="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796936-45B7-5992-F949-1F29A2FC5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r>
              <a:rPr lang="en-IN" sz="1800" b="1" dirty="0"/>
              <a:t>Key Performance Indicators</a:t>
            </a:r>
            <a:endParaRPr lang="en-IN" sz="1800" dirty="0"/>
          </a:p>
          <a:p>
            <a:pPr lvl="0"/>
            <a:r>
              <a:rPr lang="en-IN" sz="1800" b="1" dirty="0"/>
              <a:t>Total Sales:</a:t>
            </a:r>
            <a:r>
              <a:rPr lang="en-IN" sz="1800" dirty="0"/>
              <a:t> 139.40M </a:t>
            </a:r>
          </a:p>
          <a:p>
            <a:pPr lvl="0"/>
            <a:r>
              <a:rPr lang="en-IN" sz="1800" b="1" dirty="0"/>
              <a:t>Total Orders:</a:t>
            </a:r>
            <a:r>
              <a:rPr lang="en-IN" sz="1800" dirty="0"/>
              <a:t> 1K </a:t>
            </a:r>
          </a:p>
          <a:p>
            <a:pPr lvl="0"/>
            <a:r>
              <a:rPr lang="en-IN" sz="1800" b="1" dirty="0"/>
              <a:t>Total Quantity:</a:t>
            </a:r>
            <a:r>
              <a:rPr lang="en-IN" sz="1800" dirty="0"/>
              <a:t> 5K </a:t>
            </a:r>
          </a:p>
          <a:p>
            <a:pPr lvl="0"/>
            <a:r>
              <a:rPr lang="en-IN" sz="1800" b="1" dirty="0"/>
              <a:t>Average Unit Price:</a:t>
            </a:r>
            <a:r>
              <a:rPr lang="en-IN" sz="1800" dirty="0"/>
              <a:t> 25.49K</a:t>
            </a:r>
          </a:p>
          <a:p>
            <a:r>
              <a:rPr lang="en-IN" sz="1800" b="1" dirty="0"/>
              <a:t>Summary:</a:t>
            </a:r>
            <a:r>
              <a:rPr lang="en-IN" sz="1800" dirty="0"/>
              <a:t> The dashboard provides an overview of sales performance across different product categories and time periods.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469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0B8FC-6433-304A-CACE-CCADA65A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IN" sz="3600">
                <a:solidFill>
                  <a:schemeClr val="tx2"/>
                </a:solidFill>
              </a:rPr>
              <a:t>Business Insights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188F-E617-3B73-D33A-E572DE281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lvl="0"/>
            <a:r>
              <a:rPr lang="en-IN" sz="1300">
                <a:solidFill>
                  <a:schemeClr val="tx2"/>
                </a:solidFill>
              </a:rPr>
              <a:t>Electronics generated the highest sales among all categories. 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Education was the second highest-performing category. 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Grocery and Furniture showed moderate sales performance. 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Fashion recorded the lowest sales and needs improvement. 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Sales trends changed over time, indicating seasonal or customer demand patterns</a:t>
            </a:r>
          </a:p>
          <a:p>
            <a:r>
              <a:rPr lang="en-IN" sz="1300" b="1" u="sng">
                <a:solidFill>
                  <a:schemeClr val="tx2"/>
                </a:solidFill>
              </a:rPr>
              <a:t>Recommendations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Increase investment in the Electronics category to maximize revenue. 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Improve marketing campaigns for Fashion and Furniture. </a:t>
            </a:r>
          </a:p>
          <a:p>
            <a:pPr lvl="0"/>
            <a:r>
              <a:rPr lang="en-IN" sz="1300">
                <a:solidFill>
                  <a:schemeClr val="tx2"/>
                </a:solidFill>
              </a:rPr>
              <a:t>Monitor sales trends regularly to optimize inventory and promotions. </a:t>
            </a:r>
          </a:p>
          <a:p>
            <a:endParaRPr lang="en-IN" sz="130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75C95CA-236F-94FC-DAC6-15438490F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76" y="3429000"/>
            <a:ext cx="5126895" cy="172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2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FD43-3C9F-0862-183B-F2E83E3D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72"/>
            <a:ext cx="10515600" cy="1325563"/>
          </a:xfrm>
        </p:spPr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DB2E-B135-48D4-0F44-FCF71455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706"/>
            <a:ext cx="10515600" cy="5363322"/>
          </a:xfrm>
        </p:spPr>
        <p:txBody>
          <a:bodyPr>
            <a:normAutofit fontScale="92500" lnSpcReduction="20000"/>
          </a:bodyPr>
          <a:lstStyle/>
          <a:p>
            <a:r>
              <a:rPr lang="en-IN" sz="3000" b="1" u="sng" dirty="0"/>
              <a:t>Hypothesis (H₀):</a:t>
            </a:r>
            <a:br>
              <a:rPr lang="en-IN" dirty="0"/>
            </a:br>
            <a:r>
              <a:rPr lang="en-IN" dirty="0"/>
              <a:t>Electronics is </a:t>
            </a:r>
            <a:r>
              <a:rPr lang="en-IN" b="1" dirty="0"/>
              <a:t>not</a:t>
            </a:r>
            <a:r>
              <a:rPr lang="en-IN" dirty="0"/>
              <a:t> the highest-selling category.</a:t>
            </a:r>
          </a:p>
          <a:p>
            <a:r>
              <a:rPr lang="en-IN" sz="3000" b="1" u="sng" dirty="0"/>
              <a:t>Alternative Hypothesis (H₁):</a:t>
            </a:r>
            <a:br>
              <a:rPr lang="en-IN" dirty="0"/>
            </a:br>
            <a:r>
              <a:rPr lang="en-IN" dirty="0"/>
              <a:t>Electronics </a:t>
            </a:r>
            <a:r>
              <a:rPr lang="en-IN" b="1" dirty="0"/>
              <a:t>is</a:t>
            </a:r>
            <a:r>
              <a:rPr lang="en-IN" dirty="0"/>
              <a:t> the highest-selling category.</a:t>
            </a:r>
          </a:p>
          <a:p>
            <a:r>
              <a:rPr lang="en-IN" sz="3000" b="1" u="sng" dirty="0"/>
              <a:t>Analysis:</a:t>
            </a:r>
            <a:endParaRPr lang="en-IN" sz="3000" u="sng" dirty="0"/>
          </a:p>
          <a:p>
            <a:pPr lvl="0"/>
            <a:r>
              <a:rPr lang="en-IN" dirty="0"/>
              <a:t>Sales data from the Power BI dashboard was </a:t>
            </a:r>
            <a:r>
              <a:rPr lang="en-IN" dirty="0" err="1"/>
              <a:t>analyzed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Electronics recorded the highest total sales among all product categories. </a:t>
            </a:r>
          </a:p>
          <a:p>
            <a:pPr lvl="0"/>
            <a:r>
              <a:rPr lang="en-IN" dirty="0"/>
              <a:t>The dashboard supports this observation. </a:t>
            </a:r>
          </a:p>
          <a:p>
            <a:r>
              <a:rPr lang="en-IN" sz="3000" b="1" u="sng" dirty="0"/>
              <a:t>Result:</a:t>
            </a:r>
          </a:p>
          <a:p>
            <a:pPr marL="0" indent="0">
              <a:buNone/>
            </a:pPr>
            <a:r>
              <a:rPr lang="en-IN" dirty="0"/>
              <a:t>The alternative hypothesis (H₁) is accepted based on the dashboard analysis.</a:t>
            </a:r>
            <a:br>
              <a:rPr lang="en-IN" dirty="0"/>
            </a:br>
            <a:r>
              <a:rPr lang="en-IN" sz="3000" b="1" u="sng" dirty="0"/>
              <a:t>Conclusion:</a:t>
            </a:r>
            <a:br>
              <a:rPr lang="en-IN" dirty="0"/>
            </a:br>
            <a:r>
              <a:rPr lang="en-IN" dirty="0"/>
              <a:t>Electronics is the best-performing category. The company should continue investing in this category while improving sales in lower-performing categories such as Fashion.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52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1ADF-98AF-4888-19E3-02A1DA78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14AA-477E-83CD-5D3F-FE6879ED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>
            <a:normAutofit fontScale="92500" lnSpcReduction="20000"/>
          </a:bodyPr>
          <a:lstStyle/>
          <a:p>
            <a:r>
              <a:rPr lang="en-IN" sz="3100" b="1" u="sng" dirty="0"/>
              <a:t>Project Summary</a:t>
            </a:r>
          </a:p>
          <a:p>
            <a:pPr lvl="0"/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the sales dataset using Power BI. </a:t>
            </a:r>
          </a:p>
          <a:p>
            <a:pPr lvl="0"/>
            <a:r>
              <a:rPr lang="en-IN" dirty="0"/>
              <a:t>Identified key business insights using KPIs and visualizations. </a:t>
            </a:r>
          </a:p>
          <a:p>
            <a:pPr lvl="0"/>
            <a:r>
              <a:rPr lang="en-IN" dirty="0"/>
              <a:t>Performed hypothesis testing to validate findings. </a:t>
            </a:r>
          </a:p>
          <a:p>
            <a:pPr lvl="0"/>
            <a:r>
              <a:rPr lang="en-IN" dirty="0"/>
              <a:t>Recommended actions to improve business performance. </a:t>
            </a:r>
          </a:p>
          <a:p>
            <a:r>
              <a:rPr lang="en-IN" sz="3100" b="1" u="sng" dirty="0"/>
              <a:t>Key Takeaway</a:t>
            </a:r>
          </a:p>
          <a:p>
            <a:r>
              <a:rPr lang="en-IN" dirty="0"/>
              <a:t>Electronics was the highest-performing category, while Fashion showed the greatest opportunity for improvement.</a:t>
            </a:r>
          </a:p>
          <a:p>
            <a:r>
              <a:rPr lang="en-IN" sz="3100" b="1" dirty="0"/>
              <a:t>Final Message</a:t>
            </a:r>
          </a:p>
          <a:p>
            <a:r>
              <a:rPr lang="en-IN" sz="3100" b="1" dirty="0"/>
              <a:t>Any Questions</a:t>
            </a:r>
            <a:r>
              <a:rPr lang="en-IN" b="1" dirty="0"/>
              <a:t>?</a:t>
            </a:r>
          </a:p>
          <a:p>
            <a:pPr marL="0" indent="0">
              <a:buNone/>
            </a:pPr>
            <a:r>
              <a:rPr lang="en-IN" sz="3200" b="1" dirty="0"/>
              <a:t>                                           </a:t>
            </a:r>
            <a:r>
              <a:rPr lang="en-IN" sz="3700" b="1" dirty="0"/>
              <a:t>Thank You!</a:t>
            </a:r>
            <a:endParaRPr lang="en-IN" sz="37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710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349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 Storytelling &amp; Statistical Validation</vt:lpstr>
      <vt:lpstr>Objective </vt:lpstr>
      <vt:lpstr>Power BI Dashboard &amp; Key Performance Indicators (KPIs)</vt:lpstr>
      <vt:lpstr>Business Insights</vt:lpstr>
      <vt:lpstr>Hypothesis Testing</vt:lpstr>
      <vt:lpstr>Conclusion &amp;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abhirammateti2006@outlook.com</dc:creator>
  <cp:lastModifiedBy>CHANDRA KANTH</cp:lastModifiedBy>
  <cp:revision>3</cp:revision>
  <dcterms:created xsi:type="dcterms:W3CDTF">2026-07-30T07:47:49Z</dcterms:created>
  <dcterms:modified xsi:type="dcterms:W3CDTF">2026-07-30T10:23:58Z</dcterms:modified>
</cp:coreProperties>
</file>